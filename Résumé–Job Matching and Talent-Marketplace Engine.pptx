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E94E10-E892-457B-B41E-B531FC34F3CC}">
  <a:tblStyle styleId="{34E94E10-E892-457B-B41E-B531FC34F3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Inter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6.png"/><Relationship Id="rId5" Type="http://schemas.openxmlformats.org/officeDocument/2006/relationships/image" Target="../media/image28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1225" y="3878460"/>
            <a:ext cx="7829550" cy="203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1225" y="4268985"/>
            <a:ext cx="2733675" cy="16439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181225" y="1135409"/>
            <a:ext cx="782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81225" y="1630709"/>
            <a:ext cx="8221027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Résumé–Job Matching and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Talent-Marketplace Engine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81225" y="3036540"/>
            <a:ext cx="7829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Structures and Algorithms - 3 (25CS2103E) | A.Y. 2026-2027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66975" y="4554735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 the Guidance of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466975" y="4859535"/>
            <a:ext cx="21621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Ms. K. Chandusha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466975" y="5154810"/>
            <a:ext cx="216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295900" y="4459485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Submitted by: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295900" y="4811910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S. Svara Haasini (2520090170)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295900" y="5116710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B. Sudharshini (2520090227)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295900" y="5516760"/>
            <a:ext cx="471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KLH (Deemed to be University) | Section: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3005"/>
            <a:ext cx="35242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663005"/>
            <a:ext cx="35242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663005"/>
            <a:ext cx="35242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615880"/>
            <a:ext cx="11049000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Final system provides ranked recommendations, skill-gap analysis, and transparent matching explanations.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42538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261550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Efficiency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3129855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the manual, inconsistent process of reviewing large résumé volumes to speed up hiring cycles.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629150" y="261550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Intelligence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29150" y="3129855"/>
            <a:ext cx="293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Normalizes terms (e.g., "ML" vs "Machine Learning") to ensure semantic matching and compatibility scoring.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91525" y="261550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Optimization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91525" y="3129855"/>
            <a:ext cx="293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Uses graph matching and set-cover algorithms for optimal candidate assignment and team formation.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99638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199638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199638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Abstract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24025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177165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The Hiring Challenge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434340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Proposed Solution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48577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data-driven engine that indexes documents, extracts core competencies, and mathematically calculates the "best fit" for any role or organizational project.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733550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000125" y="22479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methods are slow and labor-intensive.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00125" y="27432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 bias often leads to inconsistent candidate screening.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00125" y="35433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Scalability is limited when handling thousands of applicants.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479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432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3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62000" y="661987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661987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153828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Phase 1: Information Extraction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21955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indexes both résumés and job descriptions using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Inverted Indexes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 rapid retrieval.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349091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Semantic Normalization: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Different terms (ML, Machine Learning, Predictive Modeling) are mapped to a unified taxonomy using string-matching and hash-map lookups.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50911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ensures that candidates aren't penalized for specific phrasing, focusing on actual competency instead.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4025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33550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286500" y="242887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Phase 2: Compatibility Analysis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15125" y="29051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Compatibility Score: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Calculation of similarity between skill sets, experience level, and role requirements.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15125" y="37052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Priority Queues: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Used to maintain a live ranking of candidates based on their dynamic relevance scores.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15125" y="45053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Transparency: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engine provides explanations for why a match was made, identifying specific overlaps.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051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705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50532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35242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47925"/>
            <a:ext cx="35242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47925"/>
            <a:ext cx="35242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66775" y="2743200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Gen 1: Boolean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3257550"/>
            <a:ext cx="2933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Simple keyword search. Discarded highly qualified candidates if exact phrasing was missing (e.g., missed "JS" for "JavaScript").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629150" y="2743200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Gen 2: Vector Space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29150" y="3257550"/>
            <a:ext cx="293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TF-IDF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Cosine Similarity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Better at catching topical relevance but struggled with context.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401050" y="2752725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Current: Semantic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01050" y="3267075"/>
            <a:ext cx="29146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NLP and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Inverted Indexing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Focus on talent marketplace optimal assignment and group formation.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Literature Survey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19"/>
          <p:cNvGraphicFramePr/>
          <p:nvPr/>
        </p:nvGraphicFramePr>
        <p:xfrm>
          <a:off x="571500" y="1976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{34E94E10-E892-457B-B41E-B531FC34F3CC}</a:tableStyleId>
              </a:tblPr>
              <a:tblGrid>
                <a:gridCol w="2937575"/>
                <a:gridCol w="8111425"/>
              </a:tblGrid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Required Software / Tool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Programming Language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3.10+ (Primary engine logic)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NLP Libraries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SpaCy, NLTK (Tokenization, Lemmatization)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Structures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Implementations (Hash Maps, Inverted Indexes, Priority Queues)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SQLite or MongoDB (Storing indexed profiles)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Visual Studio Code / PyCharm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19"/>
          <p:cNvSpPr/>
          <p:nvPr/>
        </p:nvSpPr>
        <p:spPr>
          <a:xfrm>
            <a:off x="571500" y="3305175"/>
            <a:ext cx="2937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509069" y="3305175"/>
            <a:ext cx="811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3962400"/>
            <a:ext cx="2937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509069" y="3962400"/>
            <a:ext cx="811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71500" y="4619625"/>
            <a:ext cx="2937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509069" y="4619625"/>
            <a:ext cx="811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5276850"/>
            <a:ext cx="2937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509069" y="5276850"/>
            <a:ext cx="811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71500" y="5934075"/>
            <a:ext cx="29375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509069" y="5934075"/>
            <a:ext cx="8111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Software Requirements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81250"/>
            <a:ext cx="53340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6765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581775" y="343852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Scalability Note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581775" y="3952875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production-scale deployment, the system can be hosted on AWS/Azure to utilize elastic compute for peak application periods.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000125" y="23622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Multi-core CPU (Intel i5/i7 or AMD Ryzen 5+) for parallel parsing.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00125" y="31623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Memory: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8GB RAM minimum (16GB recommended for large index processing).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00125" y="39624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256GB SSD (Fast I/O for inverted index lookups).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00125" y="47625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 Full HD (1920x1080) for interface testing.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Hardware Requirements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622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23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24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625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/>
        </p:nvSpPr>
        <p:spPr>
          <a:xfrm>
            <a:off x="6858000" y="885825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Talent Marketplace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6667500" y="885825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667500" y="17621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Optimal Role Assignment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667500" y="24193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engine prevents "Double Allocation" by using graph-matching algorithms to assign candidates to multiple roles efficiently.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667500" y="352425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Project Team Formation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67500" y="41814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Identifies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Minimum Set Cover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of skills required to form a high-performing project team.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667500" y="51720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Ensuring every required project skill is covered by the smallest, most efficient group of candidates.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45958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system significantly reduces the "Time-to-Hire" metric compared to manual screening.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Performance Analysis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2250"/>
            <a:ext cx="35242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762250"/>
            <a:ext cx="35242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762250"/>
            <a:ext cx="35242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66775" y="305752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Predictive Analytics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866775" y="3571875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Matching candidates to "Success Profiles" based on historical performance data.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629150" y="305752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Bias Mitigation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4629150" y="3571875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Implementation of "Blind Screening" modes to hide sensitive demographic data.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8391525" y="3057525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Multilingual Support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391525" y="3571875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Extending the matching logic to global résumé formats and languages.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Future Scope &amp; Outcomes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4737" y="3768923"/>
            <a:ext cx="4962525" cy="135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3490674" y="1566862"/>
            <a:ext cx="521065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3614737" y="2709862"/>
            <a:ext cx="49625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Questions &amp; Answers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3614737" y="4349948"/>
            <a:ext cx="4962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Résumé–Job Matching and Talent-Marketplace Engine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614737" y="4845248"/>
            <a:ext cx="4962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KLH Bachupally | Team 10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/>
          <p:nvPr/>
        </p:nvSpPr>
        <p:spPr>
          <a:xfrm>
            <a:off x="571500" y="220325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18611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97088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176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176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39613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39613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47461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47461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17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234612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https://png.pngtree.com/thumb_back/fh260/background/20241014/pngtree-modern-business-office-interior-background-blurred-space-for-corporate-use-contemporary-image_16359815.jpg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27899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55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66875" y="332898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https://www.aihr.com/wp-content/uploads/resume-parsing-Blog-1024x1024.png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35747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www.aihr.com</a:t>
            </a:r>
            <a:endParaRPr/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03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41137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https://tallyfy.com/blog-images/diagrams/workflow-patterns-ai-agents-patterns-1.svg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43594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tallyfy.com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050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489852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https://media.deloitte.com/is/image/deloitte/6791_banner-1:425-x-425?$Responsive$&amp;fmt=webp&amp;fit=stretch,1&amp;wid=425&amp;hei=425&amp;dpr=off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51442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www.deloitte.com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